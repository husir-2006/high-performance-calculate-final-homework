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df220022704351" /><Relationship Type="http://schemas.openxmlformats.org/officeDocument/2006/relationships/extended-properties" Target="/docProps/app.xml" Id="R848f71b1adb74df2" /><Relationship Type="http://schemas.openxmlformats.org/officeDocument/2006/relationships/officeDocument" Target="/ppt/presentation.xml" Id="Rd70958fd410a41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88f7ce432843e2"/>
  </p:sldMasterIdLst>
  <p:notesMasterIdLst>
    <p:notesMasterId xmlns:r="http://schemas.openxmlformats.org/officeDocument/2006/relationships" r:id="R85566e0bdc844ebf"/>
  </p:notesMasterIdLst>
  <p:sldIdLst>
    <p:sldId xmlns:r="http://schemas.openxmlformats.org/officeDocument/2006/relationships" id="256" r:id="Rb98e7e7e35664874"/>
    <p:sldId xmlns:r="http://schemas.openxmlformats.org/officeDocument/2006/relationships" id="257" r:id="R0b99d083888d4e7f"/>
    <p:sldId xmlns:r="http://schemas.openxmlformats.org/officeDocument/2006/relationships" id="258" r:id="R6e5f11b97add4a5a"/>
    <p:sldId xmlns:r="http://schemas.openxmlformats.org/officeDocument/2006/relationships" id="259" r:id="Rd476ba0448df4a7e"/>
    <p:sldId xmlns:r="http://schemas.openxmlformats.org/officeDocument/2006/relationships" id="260" r:id="R344eeaf658b6460e"/>
    <p:sldId xmlns:r="http://schemas.openxmlformats.org/officeDocument/2006/relationships" id="261" r:id="Rbab5a1f2dda14df3"/>
    <p:sldId xmlns:r="http://schemas.openxmlformats.org/officeDocument/2006/relationships" id="262" r:id="Re4103caefe5a4bf1"/>
    <p:sldId xmlns:r="http://schemas.openxmlformats.org/officeDocument/2006/relationships" id="263" r:id="Rf10abfc83703490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01d7e3fd264341" /><Relationship Type="http://schemas.openxmlformats.org/officeDocument/2006/relationships/slideMaster" Target="/ppt/slideMasters/slideMaster1.xml" Id="Rad88f7ce432843e2" /><Relationship Type="http://schemas.openxmlformats.org/officeDocument/2006/relationships/notesMaster" Target="/ppt/notesMasters/notesMaster1.xml" Id="R85566e0bdc844ebf" /><Relationship Type="http://schemas.openxmlformats.org/officeDocument/2006/relationships/presProps" Target="/ppt/presProps.xml" Id="R42526c94c571494b" /><Relationship Type="http://schemas.openxmlformats.org/officeDocument/2006/relationships/tableStyles" Target="/ppt/tableStyles.xml" Id="R93cb237d725c44ba" /><Relationship Type="http://schemas.openxmlformats.org/officeDocument/2006/relationships/slide" Target="/ppt/slides/slide1.xml" Id="Rb98e7e7e35664874" /><Relationship Type="http://schemas.openxmlformats.org/officeDocument/2006/relationships/slide" Target="/ppt/slides/slide2.xml" Id="R0b99d083888d4e7f" /><Relationship Type="http://schemas.openxmlformats.org/officeDocument/2006/relationships/slide" Target="/ppt/slides/slide3.xml" Id="R6e5f11b97add4a5a" /><Relationship Type="http://schemas.openxmlformats.org/officeDocument/2006/relationships/slide" Target="/ppt/slides/slide4.xml" Id="Rd476ba0448df4a7e" /><Relationship Type="http://schemas.openxmlformats.org/officeDocument/2006/relationships/slide" Target="/ppt/slides/slide5.xml" Id="R344eeaf658b6460e" /><Relationship Type="http://schemas.openxmlformats.org/officeDocument/2006/relationships/slide" Target="/ppt/slides/slide6.xml" Id="Rbab5a1f2dda14df3" /><Relationship Type="http://schemas.openxmlformats.org/officeDocument/2006/relationships/slide" Target="/ppt/slides/slide7.xml" Id="Re4103caefe5a4bf1" /><Relationship Type="http://schemas.openxmlformats.org/officeDocument/2006/relationships/slide" Target="/ppt/slides/slide8.xml" Id="Rf10abfc8370349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9c317b40644d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066d5cc86248a0" /><Relationship Type="http://schemas.openxmlformats.org/officeDocument/2006/relationships/notesMaster" Target="/ppt/notesMasters/notesMaster1.xml" Id="R0a8e93407b394d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86129131754333" /><Relationship Type="http://schemas.openxmlformats.org/officeDocument/2006/relationships/notesMaster" Target="/ppt/notesMasters/notesMaster1.xml" Id="Rd5587a6ad94745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7b31c7d28f40f7" /><Relationship Type="http://schemas.openxmlformats.org/officeDocument/2006/relationships/notesMaster" Target="/ppt/notesMasters/notesMaster1.xml" Id="R1f46001e9e914b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f814d4fdf241b7" /><Relationship Type="http://schemas.openxmlformats.org/officeDocument/2006/relationships/notesMaster" Target="/ppt/notesMasters/notesMaster1.xml" Id="R5e1f3dca4dfb44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44e58cd0ef74fc9" /><Relationship Type="http://schemas.openxmlformats.org/officeDocument/2006/relationships/notesMaster" Target="/ppt/notesMasters/notesMaster1.xml" Id="Rab269adeed794d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4db8e0c6aa4c29" /><Relationship Type="http://schemas.openxmlformats.org/officeDocument/2006/relationships/notesMaster" Target="/ppt/notesMasters/notesMaster1.xml" Id="R3a65ddc504f841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ccba742bfb4322" /><Relationship Type="http://schemas.openxmlformats.org/officeDocument/2006/relationships/notesMaster" Target="/ppt/notesMasters/notesMaster1.xml" Id="Rb3e1e60e11a746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baa9a593f8414a" /><Relationship Type="http://schemas.openxmlformats.org/officeDocument/2006/relationships/notesMaster" Target="/ppt/notesMasters/notesMaster1.xml" Id="Rded1234000964b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ccf9901d7546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e46fef48e74345" /><Relationship Type="http://schemas.openxmlformats.org/officeDocument/2006/relationships/slideLayout" Target="/ppt/slideLayouts/slideLayout1.xml" Id="Rc76e3c57bb6045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6e3c57bb6045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c2e0e33b7a480c" /><Relationship Type="http://schemas.openxmlformats.org/officeDocument/2006/relationships/image" Target="/ppt/media/image.png" Id="R0505d58d6bf242ed" /><Relationship Type="http://schemas.openxmlformats.org/officeDocument/2006/relationships/notesSlide" Target="/ppt/notesSlides/notesSlide1.xml" Id="R0ff07745cd064f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f71f371644b78" /><Relationship Type="http://schemas.openxmlformats.org/officeDocument/2006/relationships/image" Target="/ppt/media/image2.png" Id="Rb4b424aa9c4a41d3" /><Relationship Type="http://schemas.openxmlformats.org/officeDocument/2006/relationships/notesSlide" Target="/ppt/notesSlides/notesSlide2.xml" Id="R41ecac486d314d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ee4d0c18dc40d0" /><Relationship Type="http://schemas.openxmlformats.org/officeDocument/2006/relationships/notesSlide" Target="/ppt/notesSlides/notesSlide3.xml" Id="Rb92ed05af2b843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9c690288964888" /><Relationship Type="http://schemas.openxmlformats.org/officeDocument/2006/relationships/image" Target="/ppt/media/image3.png" Id="Rd8f72e51818c4f60" /><Relationship Type="http://schemas.openxmlformats.org/officeDocument/2006/relationships/notesSlide" Target="/ppt/notesSlides/notesSlide4.xml" Id="Reebe6a09e49d4c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1d3cc9ccbe464f" /><Relationship Type="http://schemas.openxmlformats.org/officeDocument/2006/relationships/notesSlide" Target="/ppt/notesSlides/notesSlide5.xml" Id="R533af9c858fa48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48a38e40b486e" /><Relationship Type="http://schemas.openxmlformats.org/officeDocument/2006/relationships/chart" Target="/ppt/slides/charts/chart1.xml" Id="R6f14d818d2d64914" /><Relationship Type="http://schemas.openxmlformats.org/officeDocument/2006/relationships/notesSlide" Target="/ppt/notesSlides/notesSlide6.xml" Id="Rdecd25b5119841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4507cd7cd84a2b" /><Relationship Type="http://schemas.openxmlformats.org/officeDocument/2006/relationships/image" Target="/ppt/media/image.jpeg" Id="R5e8c2d498d444279" /><Relationship Type="http://schemas.openxmlformats.org/officeDocument/2006/relationships/image" Target="/ppt/media/image2.jpeg" Id="Re25fa178dbfd4231" /><Relationship Type="http://schemas.openxmlformats.org/officeDocument/2006/relationships/image" Target="/ppt/media/image4.png" Id="Rfdcc9a62a920472b" /><Relationship Type="http://schemas.openxmlformats.org/officeDocument/2006/relationships/notesSlide" Target="/ppt/notesSlides/notesSlide7.xml" Id="R1e4947379f644a0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221179b8f44fd" /><Relationship Type="http://schemas.openxmlformats.org/officeDocument/2006/relationships/notesSlide" Target="/ppt/notesSlides/notesSlide8.xml" Id="Rcd801df400f2425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运行时间 / s</c:v>
          </c:tx>
          <c:spPr>
            <a:solidFill xmlns:a="http://schemas.openxmlformats.org/drawingml/2006/main">
              <a:srgbClr val="EA580C"/>
            </a:solidFill>
          </c:spPr>
          <c:dLbls/>
          <c:cat>
            <c:strLit>
              <c:ptCount val="2"/>
              <c:pt idx="0">
                <c:v>Serial</c:v>
              </c:pt>
              <c:pt idx="1">
                <c:v>OpenMP 8</c:v>
              </c:pt>
            </c:strLit>
          </c:cat>
          <c:val>
            <c:numLit>
              <c:formatCode>General</c:formatCode>
              <c:ptCount val="2"/>
              <c:pt idx="0">
                <c:v>39.1013</c:v>
              </c:pt>
              <c:pt idx="1">
                <c:v>9.72383</c:v>
              </c:pt>
            </c:numLit>
          </c:val>
        </c:ser>
        <c:dLbls>
          <c:dLblPos val="outEnd"/>
          <c:showVal val="1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53B4AC-A44F-408E-A228-71E3B500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4ED8"/>
                </a:solidFill>
              </a:defRPr>
            </a:pPr>
            <a:r>
              <a:rPr sz="1500" b="1">
                <a:solidFill>
                  <a:srgbClr val="1D4ED8"/>
                </a:solidFill>
              </a:rPr>
              <a:t>高性能计算课程设计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C61F03-BAF1-4E8A-B2A4-050F4C14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5810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光线追踪渲染器的</a:t>
            </a:r>
          </a:p>
          <a:p xmlns:a="http://schemas.openxmlformats.org/drawingml/2006/main">
            <a:pPr algn="l"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并行优化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388CE-EA34-42D4-8AEE-779B8D03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4748B"/>
                </a:solidFill>
              </a:defRPr>
            </a:pPr>
            <a:r>
              <a:rPr sz="1875" b="0">
                <a:solidFill>
                  <a:srgbClr val="64748B"/>
                </a:solidFill>
              </a:rPr>
              <a:t>串行基准  OpenMP 多线程  CUDA GPU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05d58d6bf242ed"/>
          <a:srcRect xmlns:a="http://schemas.openxmlformats.org/drawingml/2006/main" l="15165" t="0" r="151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819150"/>
            <a:ext cx="4648200" cy="3752850"/>
          </a:xfrm>
          <a:prstGeom xmlns:a="http://schemas.openxmlformats.org/drawingml/2006/main" prst="roundRect">
            <a:avLst>
              <a:gd name="adj" fmla="val 203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5C04F0-A9B1-4ECF-8286-A754F2C4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31432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E13F7A-3F80-46CB-A30C-057FDCE9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A580C"/>
                </a:solidFill>
              </a:defRPr>
            </a:pPr>
            <a:r>
              <a:rPr sz="2550" b="1">
                <a:solidFill>
                  <a:srgbClr val="EA580C"/>
                </a:solidFill>
              </a:rPr>
              <a:t>4.02x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740F47-C062-4343-BF26-FF6F9964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721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OpenMP 加速比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5A50F3-2900-4926-87F9-EF1604F2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769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400 x 300, 64 samples, 8 threads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F4BC39-C12B-47BC-A4C9-742CDEEE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686300"/>
            <a:ext cx="31432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B6835B-D9A3-4471-88F2-3DB57854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958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4ED8"/>
                </a:solidFill>
              </a:defRPr>
            </a:pPr>
            <a:r>
              <a:rPr sz="2550" b="1">
                <a:solidFill>
                  <a:srgbClr val="1D4ED8"/>
                </a:solidFill>
              </a:rPr>
              <a:t>像素级并行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3BF237-7622-4D45-BE1A-745FAEEA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3721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优化目标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F2D34E-45F8-4BB7-8C38-E6EA7B62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6769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每个像素可独立追踪光线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9247B0-5616-48FE-80BC-DE9827B6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86300"/>
            <a:ext cx="31432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EC4FA8-9959-4B96-B276-3B4DE267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8958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91B2"/>
                </a:solidFill>
              </a:defRPr>
            </a:pPr>
            <a:r>
              <a:rPr sz="2550" b="1">
                <a:solidFill>
                  <a:srgbClr val="0891B2"/>
                </a:solidFill>
              </a:rPr>
              <a:t>已编译提交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38A3B0-EAA7-407C-B8D3-C94FB2DA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3721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CUDA 状态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42B8F9-B8DD-47D8-A6DC-47194E05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6769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通过 Slurm 进入 GPU 队列</a:t>
            </a:r>
          </a:p>
        </p:txBody>
      </p:sp>
    </p:spTree>
    <p:extLst>
      <p:ext uri="{BB962C8B-B14F-4D97-AF65-F5344CB8AC3E}">
        <p14:creationId xmlns:p14="http://schemas.microsoft.com/office/powerpoint/2010/main" val="2752202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D2896F-5987-4770-A92B-A6A49891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</a:defRPr>
            </a:pPr>
            <a:r>
              <a:rPr sz="1200" b="1">
                <a:solidFill>
                  <a:srgbClr val="1D4ED8"/>
                </a:solidFill>
              </a:rPr>
              <a:t>研究背景与意义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2E12CE-D6D2-43DF-8456-BD7B7087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为什么选择光线追踪作为优化对象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CDDFB7-26DB-4A56-B78B-A3E54E21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A580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D8DB7D-643B-43B6-8551-206E973C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05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D8DA90-F8BB-445E-BB8A-4C48C70C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510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光线追踪能生成真实的反射、折射、阴影和景深效果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D9CB02-4533-4E54-A4AD-043FA0A7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05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B7011B-8DE5-43C5-B6E0-EE9E1AAA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00300"/>
            <a:ext cx="510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每个像素需要多次采样和多轮相交计算，计算密度高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A69BB3-F46C-4892-ABC4-B96F6DB2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834664-EFEB-427F-972B-D5CF2505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00350"/>
            <a:ext cx="510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像素之间天然独立，适合 CPU 多线程和 GPU 大规模并行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23367-8680-4DDE-BEA6-34A65CC3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05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4E8C7A-B96A-44B1-A383-6AD1BA30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00400"/>
            <a:ext cx="510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实验结果可以同时体现性能提升和图形渲染效果变化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b424aa9c4a41d3"/>
          <a:srcRect xmlns:a="http://schemas.openxmlformats.org/drawingml/2006/main" l="7813" t="0" r="78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1828800"/>
            <a:ext cx="4286250" cy="285750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61D424-84D3-4519-85E0-50EE50E8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5626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目标：用高性能计算技术优化一个可运行的渲染程序，并分析不同并行方案的收益与限制。</a:t>
            </a:r>
          </a:p>
        </p:txBody>
      </p:sp>
    </p:spTree>
    <p:extLst>
      <p:ext uri="{BB962C8B-B14F-4D97-AF65-F5344CB8AC3E}">
        <p14:creationId xmlns:p14="http://schemas.microsoft.com/office/powerpoint/2010/main" val="3045057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0BFC21-4E7F-436F-97AC-186DC071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</a:defRPr>
            </a:pPr>
            <a:r>
              <a:rPr sz="1200" b="1">
                <a:solidFill>
                  <a:srgbClr val="1D4ED8"/>
                </a:solidFill>
              </a:rPr>
              <a:t>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FD0851-8E40-4BB0-8458-55335421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项目按三个版本逐步优化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944DFE-770A-4385-8BD7-4DA344EE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A580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4CAD21-585C-407F-AB88-9EE6396A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2857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89032E-42A6-46FB-A888-9342090D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57450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V1 Serial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6D19E8-6A9A-4852-953E-AF0D559F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71800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单线程逐像素追踪，作为性能基准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EA309A-C723-499B-A5F8-54CA9554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7813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D4ED8"/>
                </a:solidFill>
              </a:defRPr>
            </a:pPr>
            <a:r>
              <a:rPr sz="2550" b="1">
                <a:solidFill>
                  <a:srgbClr val="1D4ED8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AAF4B2-B3D7-4DA8-8EF1-1B27CB2A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09800"/>
            <a:ext cx="2857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F8C99-8020-4D4A-9B55-7B74586A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57450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A580C"/>
                </a:solidFill>
              </a:defRPr>
            </a:pPr>
            <a:r>
              <a:rPr sz="2100" b="1">
                <a:solidFill>
                  <a:srgbClr val="EA580C"/>
                </a:solidFill>
              </a:rPr>
              <a:t>V2 OpenMP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06A538-D778-4242-8DD3-F36D1948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971800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对像素行循环并行化，利用 CPU 多核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15980E-FFB3-41EB-B699-80446A9E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813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D4ED8"/>
                </a:solidFill>
              </a:defRPr>
            </a:pPr>
            <a:r>
              <a:rPr sz="2550" b="1">
                <a:solidFill>
                  <a:srgbClr val="1D4ED8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F6A8B7-D4E9-45EC-9F0B-1F83E41A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2857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7E963F-F8A6-468B-8FB6-AB3A4825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57450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4ED8"/>
                </a:solidFill>
              </a:defRPr>
            </a:pPr>
            <a:r>
              <a:rPr sz="2100" b="1">
                <a:solidFill>
                  <a:srgbClr val="1D4ED8"/>
                </a:solidFill>
              </a:rPr>
              <a:t>V3 CUDA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35AB4F-9060-46C6-BAD4-975D42C6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71800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每个 GPU thread 负责一个像素，显存保存场景数据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E887CB-C9BB-4C2C-A672-92E12602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核心思路：保持相同渲染算法，逐步改变任务调度方式，从而对比并行化带来的性能变化。</a:t>
            </a:r>
          </a:p>
        </p:txBody>
      </p:sp>
    </p:spTree>
    <p:extLst>
      <p:ext uri="{BB962C8B-B14F-4D97-AF65-F5344CB8AC3E}">
        <p14:creationId xmlns:p14="http://schemas.microsoft.com/office/powerpoint/2010/main" val="11166163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D563FC-7827-4D8D-A4AC-BCD1A43D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</a:defRPr>
            </a:pPr>
            <a:r>
              <a:rPr sz="1200" b="1">
                <a:solidFill>
                  <a:srgbClr val="1D4ED8"/>
                </a:solidFill>
              </a:rPr>
              <a:t>实现方法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C162E5-93AA-41D4-A53D-82DE3ABC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OpenMP 优化把独立像素分配给多个 CPU 线程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F34D83-8EF1-4EDC-9C5B-9AA921EE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A580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4AEE7A-3972-4A13-A707-408F3444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05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970635-3F26-487F-97E0-BAF882E9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先将像素颜色写入 framebuffer，避免多线程同时写文件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D47871-CCAA-46A9-A964-DA9C1F7D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05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3F1F6B-E3E7-419B-AAB4-ABE50317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使用 parallel for 并行图像行循环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4A4EB8-994C-4EBE-8DCF-55F111AD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05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0FAAD3-D202-473C-8005-E972957B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使用 dynamic 调度缓解不同像素追踪深度不一致的问题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D34398-F515-412C-B51F-394C234E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05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C19A8A-4BEE-46B7-9EA2-789FC2BF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0400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通过 OMP_NUM_THREADS 控制线程数，便于做扩展性分析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7D1580-1687-4875-9B68-A5602046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19300"/>
            <a:ext cx="4381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#pragma omp parallel for schedule(dynamic, 1)</a:t>
            </a:r>
          </a:p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for (int j = 0; j &lt; HEIGHT; j++) {</a:t>
            </a:r>
          </a:p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    for (int i = 0; i &lt; WIDTH; i++) {</a:t>
            </a:r>
          </a:p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        framebuffer[row * WIDTH + i] = color;</a:t>
            </a:r>
          </a:p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    }</a:t>
            </a:r>
          </a:p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}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f72e51818c4f60"/>
          <a:stretch xmlns:a="http://schemas.openxmlformats.org/drawingml/2006/main"/>
        </p:blipFill>
        <p:spPr>
          <a:xfrm xmlns:a="http://schemas.openxmlformats.org/drawingml/2006/main">
            <a:off x="6930253" y="4400550"/>
            <a:ext cx="3855995" cy="1562100"/>
          </a:xfrm>
          <a:prstGeom xmlns:a="http://schemas.openxmlformats.org/drawingml/2006/main" prst="roundRect">
            <a:avLst>
              <a:gd name="adj" fmla="val 4878"/>
            </a:avLst>
          </a:prstGeom>
        </p:spPr>
      </p:pic>
    </p:spTree>
    <p:extLst>
      <p:ext uri="{BB962C8B-B14F-4D97-AF65-F5344CB8AC3E}">
        <p14:creationId xmlns:p14="http://schemas.microsoft.com/office/powerpoint/2010/main" val="8711935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7A50E8-CBBA-4EBA-ACF3-088D70F0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</a:defRPr>
            </a:pPr>
            <a:r>
              <a:rPr sz="1200" b="1">
                <a:solidFill>
                  <a:srgbClr val="1D4ED8"/>
                </a:solidFill>
              </a:rPr>
              <a:t>实现方法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98A39A-5F46-414B-8256-3E8AED0A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CUDA 版本把像素计算映射到 GPU 线程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1B2907-E484-488A-8387-C4319B8C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A580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0AECE8-7891-442B-8DB6-5E396492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0C38D9-D2E4-4874-876E-E9CE7125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43100"/>
            <a:ext cx="529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16 x 16 线程块组织二维网格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61119A-B4B5-45BB-96CD-E668305C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47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2E8F20-C779-4D13-A9AC-1B7277F0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43150"/>
            <a:ext cx="529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每个线程独立生成随机采样并计算一个像素颜色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CC2DB8-416A-417D-A57B-40F796D5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47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DA9CC4-5AD4-4B07-BE33-FD9F863D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529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递归光线追踪改为迭代流程，降低 GPU 栈压力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961904-023F-4556-BC34-7CFD928B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48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1C64EB-BB40-4562-884B-6C10DEDE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529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球体与材质通过 cudaMalloc 放入显存，作为 kernel 参数传入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CA9851-E4EC-4D3D-8905-0D784B24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14550"/>
            <a:ext cx="44767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module load intel/cuda/12.1</a:t>
            </a:r>
          </a:p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nvcc -O3 -arch=sm_80 v3_cuda/main.cu -o v3_cuda/v3_cuda</a:t>
            </a:r>
          </a:p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sbatch scripts/submit_gpu_slurm.sh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AD331-03A1-4C04-9C30-C06CAB64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90950"/>
            <a:ext cx="4381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4ED8"/>
                </a:solidFill>
              </a:defRPr>
            </a:pPr>
            <a:r>
              <a:rPr sz="1800" b="1">
                <a:solidFill>
                  <a:srgbClr val="1D4ED8"/>
                </a:solidFill>
              </a:rPr>
              <a:t>登录节点不直接跑 CUDA 程序；正式测试通过 Slurm 提交到 gpu_4090 计算节点。</a:t>
            </a:r>
          </a:p>
        </p:txBody>
      </p:sp>
    </p:spTree>
    <p:extLst>
      <p:ext uri="{BB962C8B-B14F-4D97-AF65-F5344CB8AC3E}">
        <p14:creationId xmlns:p14="http://schemas.microsoft.com/office/powerpoint/2010/main" val="14354483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D5EE2D-58F9-4AB8-B373-172CF91A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</a:defRPr>
            </a:pPr>
            <a:r>
              <a:rPr sz="1200" b="1">
                <a:solidFill>
                  <a:srgbClr val="1D4ED8"/>
                </a:solidFill>
              </a:rPr>
              <a:t>运行结果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CC3A53-DFA9-4719-9FDA-F15C02D7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已有超算结果显示 OpenMP 获得明显加速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38C68-D484-4E91-B895-814AAB81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A580C"/>
            </a:solidFill>
            <a:prstDash val="solid"/>
          </a:ln>
        </p:spPr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1047750" y="1924050"/>
          <a:ext xmlns:a="http://schemas.openxmlformats.org/drawingml/2006/main" cx="50482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f14d818d2d6491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8E4180-AF2D-403E-8348-6E443C64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962150"/>
            <a:ext cx="31432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620DCC-3552-4469-9A98-E89584BB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717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39.1013 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D5A0E1-99A3-402E-B13B-6B1B956C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479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串行版本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C50C76-9283-45C7-A510-70C12F28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400 x 300, 64 samples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63C7D5-1870-4991-B522-5F5D619E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562350"/>
            <a:ext cx="31432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D1ED30-7092-4776-B6E7-C239155A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719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A580C"/>
                </a:solidFill>
              </a:defRPr>
            </a:pPr>
            <a:r>
              <a:rPr sz="2550" b="1">
                <a:solidFill>
                  <a:srgbClr val="EA580C"/>
                </a:solidFill>
              </a:rPr>
              <a:t>9.72383 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DBE424-B229-4364-916B-480AD77A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481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OpenMP 版本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217956-98C9-4F24-A2E0-E607CF82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52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8 CPU threads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97D492-1C03-4E79-99A8-177AD59C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6388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加速比 = 39.1013 / 9.72383 ≈ 4.02x，并行效率约 50.3%。</a:t>
            </a:r>
          </a:p>
        </p:txBody>
      </p:sp>
    </p:spTree>
    <p:extLst>
      <p:ext uri="{BB962C8B-B14F-4D97-AF65-F5344CB8AC3E}">
        <p14:creationId xmlns:p14="http://schemas.microsoft.com/office/powerpoint/2010/main" val="19302541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1599EB-1EA8-4776-B213-1A2D1825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</a:defRPr>
            </a:pPr>
            <a:r>
              <a:rPr sz="1200" b="1">
                <a:solidFill>
                  <a:srgbClr val="1D4ED8"/>
                </a:solidFill>
              </a:rPr>
              <a:t>结果展示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4B90B2-30B2-45BB-9558-C3849D51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渲染结果覆盖基础验证和游戏化展示场景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B14A6-1A3B-445E-95B1-F1C5FE64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A580C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8c2d498d444279"/>
          <a:srcRect xmlns:a="http://schemas.openxmlformats.org/drawingml/2006/main" l="101" t="0" r="1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1866900"/>
            <a:ext cx="3143250" cy="2362200"/>
          </a:xfrm>
          <a:prstGeom xmlns:a="http://schemas.openxmlformats.org/drawingml/2006/main" prst="roundRect">
            <a:avLst>
              <a:gd name="adj" fmla="val 3226"/>
            </a:avLst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5fa178dbfd4231"/>
          <a:srcRect xmlns:a="http://schemas.openxmlformats.org/drawingml/2006/main" l="101" t="0" r="1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4850" y="1866900"/>
            <a:ext cx="3143250" cy="2362200"/>
          </a:xfrm>
          <a:prstGeom xmlns:a="http://schemas.openxmlformats.org/drawingml/2006/main" prst="roundRect">
            <a:avLst>
              <a:gd name="adj" fmla="val 3226"/>
            </a:avLst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cc9a62a920472b"/>
          <a:srcRect xmlns:a="http://schemas.openxmlformats.org/drawingml/2006/main" l="12576" t="0" r="125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48650" y="1866900"/>
            <a:ext cx="3143250" cy="2362200"/>
          </a:xfrm>
          <a:prstGeom xmlns:a="http://schemas.openxmlformats.org/drawingml/2006/main" prst="roundRect">
            <a:avLst>
              <a:gd name="adj" fmla="val 322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DF0C54-06DB-4F06-AB91-9DA17A84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53000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PPM 输出可直接在超算生成；报告中已转为 JPG/PNG 便于展示。扩展场景使用程序生成，不依赖商业游戏素材。</a:t>
            </a:r>
          </a:p>
        </p:txBody>
      </p:sp>
    </p:spTree>
    <p:extLst>
      <p:ext uri="{BB962C8B-B14F-4D97-AF65-F5344CB8AC3E}">
        <p14:creationId xmlns:p14="http://schemas.microsoft.com/office/powerpoint/2010/main" val="2314975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FB8724-F99C-4678-93C4-38C00D1A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</a:defRPr>
            </a:pPr>
            <a:r>
              <a:rPr sz="1200" b="1">
                <a:solidFill>
                  <a:srgbClr val="1D4ED8"/>
                </a:solidFill>
              </a:rPr>
              <a:t>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D96FFC-98DE-4687-B86A-53849C47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课程设计已经形成可复现的提交包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36B81A-E308-4EB4-B120-90F8956A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A580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1E744A-39D2-489F-AAE9-72446307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43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7415D9-B1C9-483C-9CA7-5D2E13A0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38350"/>
            <a:ext cx="815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F172A"/>
                </a:solidFill>
              </a:defRPr>
            </a:pPr>
            <a:r>
              <a:rPr sz="1875" b="0">
                <a:solidFill>
                  <a:srgbClr val="0F172A"/>
                </a:solidFill>
              </a:rPr>
              <a:t>完成串行、OpenMP、CUDA 三个版本的源码与运行说明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654938-5591-4970-9B90-BB9F06CD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19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BA790F-4533-43A9-9937-BBA970F5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14600"/>
            <a:ext cx="815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F172A"/>
                </a:solidFill>
              </a:defRPr>
            </a:pPr>
            <a:r>
              <a:rPr sz="1875" b="0">
                <a:solidFill>
                  <a:srgbClr val="0F172A"/>
                </a:solidFill>
              </a:rPr>
              <a:t>完成超算 CPU/OpenMP 实测，OpenMP 8 线程加速约 4.02 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EA0BBB-AD62-4EA0-A275-99712D12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95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83347D-6773-4CD1-BD78-19837B7E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90850"/>
            <a:ext cx="815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F172A"/>
                </a:solidFill>
              </a:defRPr>
            </a:pPr>
            <a:r>
              <a:rPr sz="1875" b="0">
                <a:solidFill>
                  <a:srgbClr val="0F172A"/>
                </a:solidFill>
              </a:rPr>
              <a:t>CUDA 已解决编译问题，并按平台要求通过 Slurm 提交 GPU 队列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B1AF61-FD67-4E74-B406-516E2C50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71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4C8CC-B8E1-4BB5-95D1-5AC1B8C5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67100"/>
            <a:ext cx="815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F172A"/>
                </a:solidFill>
              </a:defRPr>
            </a:pPr>
            <a:r>
              <a:rPr sz="1875" b="0">
                <a:solidFill>
                  <a:srgbClr val="0F172A"/>
                </a:solidFill>
              </a:rPr>
              <a:t>提交材料包含源代码、实验报告、答辩 PPT PDF 和结果图片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F433AB-C099-4CA4-ACE2-9BBB25E1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429250"/>
            <a:ext cx="914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D4ED8"/>
                </a:solidFill>
              </a:defRPr>
            </a:pPr>
            <a:r>
              <a:rPr sz="2025" b="1">
                <a:solidFill>
                  <a:srgbClr val="1D4ED8"/>
                </a:solidFill>
              </a:rPr>
              <a:t>后续可继续补充 CUDA 最终运行时间、OBJ 模型加载和 BVH 加速结构。</a:t>
            </a:r>
          </a:p>
        </p:txBody>
      </p:sp>
    </p:spTree>
    <p:extLst>
      <p:ext uri="{BB962C8B-B14F-4D97-AF65-F5344CB8AC3E}">
        <p14:creationId xmlns:p14="http://schemas.microsoft.com/office/powerpoint/2010/main" val="1001308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2026-07-03T14:28:50.4830000Z</dcterms:created>
  <dcterms:modified xsi:type="dcterms:W3CDTF">2026-07-03T14:28:50.4830000Z</dcterms:modified>
</coreProperties>
</file>